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1"/>
  </p:notesMasterIdLst>
  <p:sldIdLst>
    <p:sldId id="256" r:id="rId2"/>
    <p:sldId id="271" r:id="rId3"/>
    <p:sldId id="258" r:id="rId4"/>
    <p:sldId id="257" r:id="rId5"/>
    <p:sldId id="272" r:id="rId6"/>
    <p:sldId id="259" r:id="rId7"/>
    <p:sldId id="273" r:id="rId8"/>
    <p:sldId id="274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2"/>
    <p:restoredTop sz="59242"/>
  </p:normalViewPr>
  <p:slideViewPr>
    <p:cSldViewPr snapToGrid="0">
      <p:cViewPr>
        <p:scale>
          <a:sx n="60" d="100"/>
          <a:sy n="60" d="100"/>
        </p:scale>
        <p:origin x="352" y="272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34298-24E2-184A-BD19-4EB9995C8D12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9EE23-E0B4-844F-8556-21E3C5FE9B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79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 is to build a machine learning model that can predict customer feedback from product review data.</a:t>
            </a:r>
          </a:p>
          <a:p>
            <a:r>
              <a:rPr lang="en-US" dirty="0"/>
              <a:t>Each row represents one customer review for a clothing item. For each review, we have information about the customer, the text of the review, the product category, and some feedback information.</a:t>
            </a:r>
          </a:p>
          <a:p>
            <a:r>
              <a:rPr lang="en-US" dirty="0"/>
              <a:t>The model must predict two outputs:</a:t>
            </a:r>
          </a:p>
          <a:p>
            <a:r>
              <a:rPr lang="en-US" b="1" dirty="0"/>
              <a:t>Rating</a:t>
            </a:r>
            <a:r>
              <a:rPr lang="en-US" dirty="0"/>
              <a:t> — an integer score from 1 to 5.</a:t>
            </a:r>
            <a:br>
              <a:rPr lang="en-US" dirty="0"/>
            </a:br>
            <a:r>
              <a:rPr lang="en-US" dirty="0"/>
              <a:t>This is the customer’s overall rating of the product.</a:t>
            </a:r>
          </a:p>
          <a:p>
            <a:r>
              <a:rPr lang="en-US" b="1" dirty="0"/>
              <a:t>Recommended</a:t>
            </a:r>
            <a:r>
              <a:rPr lang="en-US" dirty="0"/>
              <a:t> — a binary value, either 0 or 1.</a:t>
            </a: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dirty="0"/>
              <a:t> means the customer recommends the product,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dirty="0"/>
              <a:t> means they do not.</a:t>
            </a:r>
          </a:p>
          <a:p>
            <a:r>
              <a:rPr lang="en-US" dirty="0"/>
              <a:t>So this is a </a:t>
            </a:r>
            <a:r>
              <a:rPr lang="en-US" b="1" dirty="0"/>
              <a:t>multi-target prediction problem</a:t>
            </a:r>
            <a:r>
              <a:rPr lang="en-US" dirty="0"/>
              <a:t>: one target is ordinal/numerical, and one target is binary.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399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057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EDA → Classical NLP / </a:t>
            </a:r>
            <a:r>
              <a:rPr lang="en-US" b="1" dirty="0" err="1"/>
              <a:t>BoW</a:t>
            </a:r>
            <a:r>
              <a:rPr lang="en-US" b="1" dirty="0"/>
              <a:t> baseline → RNN model → Hybrid model → Final submission</a:t>
            </a: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603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 the training data has 10 columns and the test data has 8 columns is that the training data contains the two target columns: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</a:p>
          <a:p>
            <a:r>
              <a:rPr lang="en-US" dirty="0"/>
              <a:t>The test data does not contain them because these are the values we need to predict.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Input features</a:t>
            </a:r>
          </a:p>
          <a:p>
            <a:r>
              <a:rPr lang="en-US" dirty="0"/>
              <a:t>For modeling,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en-US" dirty="0"/>
              <a:t> is mainly an identifier, not a meaningful predictive feature.</a:t>
            </a:r>
          </a:p>
          <a:p>
            <a:endParaRPr lang="en-GB" dirty="0"/>
          </a:p>
          <a:p>
            <a:r>
              <a:rPr lang="en-US" dirty="0"/>
              <a:t>So the dataset combines several types of information:</a:t>
            </a:r>
          </a:p>
          <a:p>
            <a:r>
              <a:rPr lang="en-US" b="1" dirty="0"/>
              <a:t>Numerical features:</a:t>
            </a:r>
            <a:endParaRPr lang="en-US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Pos_Feedback_Cnt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b="1" dirty="0"/>
              <a:t>Text features:</a:t>
            </a:r>
            <a:endParaRPr lang="en-US" dirty="0"/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Review_Title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</a:t>
            </a:r>
          </a:p>
          <a:p>
            <a:r>
              <a:rPr lang="en-US" b="1" dirty="0"/>
              <a:t>Categorical features:</a:t>
            </a:r>
            <a:endParaRPr lang="en-US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Division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Product_Category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important because different feature types need different preprocessing. Numerical features can be scaled or transformed, categorical features can be one-hot encoded, and text features need vectorization or neural network text processing.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The competition metric is the </a:t>
            </a:r>
            <a:r>
              <a:rPr lang="en-US" b="1" dirty="0"/>
              <a:t>mean of Spearman correlations</a:t>
            </a:r>
            <a:r>
              <a:rPr lang="en-US" dirty="0"/>
              <a:t> for the two targets.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So the metric checks how well the predicted values preserve the correct ranking of the true values.</a:t>
            </a:r>
          </a:p>
          <a:p>
            <a:r>
              <a:rPr lang="en-US" b="1" dirty="0"/>
              <a:t>What Spearman correlation means</a:t>
            </a:r>
          </a:p>
          <a:p>
            <a:r>
              <a:rPr lang="en-US" dirty="0"/>
              <a:t>Spearman correlation does not directly compare exact values. Instead, it compares </a:t>
            </a:r>
            <a:r>
              <a:rPr lang="en-US" b="1" dirty="0"/>
              <a:t>ranks</a:t>
            </a:r>
            <a:r>
              <a:rPr lang="en-US" dirty="0"/>
              <a:t>.</a:t>
            </a:r>
          </a:p>
          <a:p>
            <a:r>
              <a:rPr lang="en-US" dirty="0"/>
              <a:t>For example, suppose we have true ratings: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[1, 3, 5]</a:t>
            </a:r>
          </a:p>
          <a:p>
            <a:r>
              <a:rPr lang="en-US" dirty="0"/>
              <a:t>and model predictions: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[0.2, 0.6, 0.9]</a:t>
            </a:r>
          </a:p>
          <a:p>
            <a:r>
              <a:rPr lang="en-US" dirty="0"/>
              <a:t>Even though the predictions are not exactly 1, 3, and 5, their order is correct: the lowest true rating gets the lowest prediction, and the highest true rating gets the highest prediction.</a:t>
            </a:r>
          </a:p>
          <a:p>
            <a:r>
              <a:rPr lang="en-US" dirty="0"/>
              <a:t>So Spearman correlation will be high.</a:t>
            </a:r>
          </a:p>
          <a:p>
            <a:r>
              <a:rPr lang="en-US" dirty="0"/>
              <a:t>This is different from metrics like RMSE or accuracy. Spearman cares more about whether the model puts examples in the correct order.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679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D3D2-2289-3077-6A5C-7BC6C4B4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B5040-1B99-01D3-E7B1-503A1931D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64FFC-7672-4D62-28A7-FCFC8A61D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This shows that the dataset is strongly skewed toward positive reviews. More than half of all reviews have rating 5.</a:t>
            </a:r>
          </a:p>
          <a:p>
            <a:r>
              <a:rPr lang="en-US" dirty="0"/>
              <a:t>That means the model can easily learn to predict high ratings too often. For example, if the model predicts many 5s, it may look reasonable because 5 is the most common class, but it may fail to correctly rank lower-rated reviews.</a:t>
            </a:r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The second target is </a:t>
            </a:r>
            <a:r>
              <a:rPr lang="en-US" b="1" dirty="0"/>
              <a:t>Recommended</a:t>
            </a:r>
          </a:p>
          <a:p>
            <a:r>
              <a:rPr lang="en-US" dirty="0"/>
              <a:t>This target is also imbalanced. Most customers recommend the product.</a:t>
            </a:r>
          </a:p>
          <a:p>
            <a:r>
              <a:rPr lang="en-US" dirty="0"/>
              <a:t>So both targets show the same general pattern: the dataset contains mostly positive customer feedback.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DA57D-7778-F3BB-8111-C7E1AF0E8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984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Show:</a:t>
            </a:r>
          </a:p>
          <a:p>
            <a:r>
              <a:rPr lang="en-US" dirty="0"/>
              <a:t>distribution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</a:t>
            </a:r>
          </a:p>
          <a:p>
            <a:r>
              <a:rPr lang="en-US" dirty="0"/>
              <a:t>distribution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</a:t>
            </a:r>
          </a:p>
          <a:p>
            <a:r>
              <a:rPr lang="en-US" dirty="0"/>
              <a:t>maybe correlation / crosstab between them </a:t>
            </a:r>
          </a:p>
          <a:p>
            <a:endParaRPr lang="en-US" dirty="0"/>
          </a:p>
          <a:p>
            <a:r>
              <a:rPr lang="en-US" dirty="0"/>
              <a:t>Main message:</a:t>
            </a:r>
          </a:p>
          <a:p>
            <a:r>
              <a:rPr lang="en-US" dirty="0"/>
              <a:t>Both targets are positively skewed </a:t>
            </a:r>
          </a:p>
          <a:p>
            <a:r>
              <a:rPr lang="en-US" dirty="0"/>
              <a:t>Most reviews are positive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are strongly related </a:t>
            </a:r>
          </a:p>
          <a:p>
            <a:endParaRPr lang="en-US" dirty="0"/>
          </a:p>
          <a:p>
            <a:r>
              <a:rPr lang="en-US" dirty="0"/>
              <a:t>What to say:</a:t>
            </a:r>
          </a:p>
          <a:p>
            <a:r>
              <a:rPr lang="en-US" dirty="0"/>
              <a:t>The dataset is imbalanced toward positive opinions </a:t>
            </a:r>
          </a:p>
          <a:p>
            <a:r>
              <a:rPr lang="en-US" dirty="0"/>
              <a:t>This is important because it affects classification behavior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963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Show:</a:t>
            </a:r>
          </a:p>
          <a:p>
            <a:r>
              <a:rPr lang="en-US" dirty="0"/>
              <a:t>missing values bar plot </a:t>
            </a:r>
          </a:p>
          <a:p>
            <a:r>
              <a:rPr lang="en-US" dirty="0"/>
              <a:t>maybe one table showing: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title_missing</a:t>
            </a:r>
            <a:r>
              <a:rPr lang="en-US" dirty="0"/>
              <a:t>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review_missing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average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average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</a:t>
            </a:r>
          </a:p>
          <a:p>
            <a:r>
              <a:rPr lang="en-US" dirty="0"/>
              <a:t>Main message:</a:t>
            </a:r>
          </a:p>
          <a:p>
            <a:r>
              <a:rPr lang="en-US" dirty="0"/>
              <a:t>Missing text is not random </a:t>
            </a:r>
          </a:p>
          <a:p>
            <a:r>
              <a:rPr lang="en-US" dirty="0"/>
              <a:t>Missing title/review can carry signal </a:t>
            </a:r>
          </a:p>
          <a:p>
            <a:r>
              <a:rPr lang="en-US" dirty="0"/>
              <a:t>Review length is informative </a:t>
            </a:r>
          </a:p>
          <a:p>
            <a:endParaRPr lang="en-US" dirty="0"/>
          </a:p>
          <a:p>
            <a:r>
              <a:rPr lang="en-US" dirty="0"/>
              <a:t>What to say:</a:t>
            </a:r>
          </a:p>
          <a:p>
            <a:r>
              <a:rPr lang="en-US" dirty="0"/>
              <a:t>Reviews with missing text had different average targets </a:t>
            </a:r>
          </a:p>
          <a:p>
            <a:r>
              <a:rPr lang="en-US" dirty="0"/>
              <a:t>So I kept missingness indicators instead of simply dropping them </a:t>
            </a:r>
          </a:p>
          <a:p>
            <a:endParaRPr lang="en-US" dirty="0"/>
          </a:p>
          <a:p>
            <a:r>
              <a:rPr lang="en-US" dirty="0"/>
              <a:t>To mention:</a:t>
            </a:r>
          </a:p>
          <a:p>
            <a:r>
              <a:rPr lang="en-US" dirty="0"/>
              <a:t>title length </a:t>
            </a:r>
          </a:p>
          <a:p>
            <a:r>
              <a:rPr lang="en-US" dirty="0"/>
              <a:t>review length </a:t>
            </a:r>
          </a:p>
          <a:p>
            <a:r>
              <a:rPr lang="en-US" dirty="0"/>
              <a:t>text preprocessing decisions came from EDA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757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Put:</a:t>
            </a:r>
          </a:p>
          <a:p>
            <a:r>
              <a:rPr lang="en-US" dirty="0"/>
              <a:t>lowercasing / light cleaning </a:t>
            </a:r>
          </a:p>
          <a:p>
            <a:r>
              <a:rPr lang="en-US" dirty="0"/>
              <a:t>missing text filled with empty strings </a:t>
            </a:r>
          </a:p>
          <a:p>
            <a:r>
              <a:rPr lang="en-US" dirty="0"/>
              <a:t>missingness indicators kept </a:t>
            </a:r>
          </a:p>
          <a:p>
            <a:r>
              <a:rPr lang="en-US" dirty="0"/>
              <a:t>title and review combined </a:t>
            </a:r>
          </a:p>
          <a:p>
            <a:r>
              <a:rPr lang="en-US" dirty="0"/>
              <a:t>n-grams used </a:t>
            </a:r>
          </a:p>
          <a:p>
            <a:r>
              <a:rPr lang="en-US" dirty="0" err="1"/>
              <a:t>BoW</a:t>
            </a:r>
            <a:r>
              <a:rPr lang="en-US" dirty="0"/>
              <a:t>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CountVectorizer</a:t>
            </a:r>
            <a:r>
              <a:rPr lang="en-US" dirty="0"/>
              <a:t>) with metadata </a:t>
            </a:r>
          </a:p>
          <a:p>
            <a:r>
              <a:rPr lang="en-US" dirty="0"/>
              <a:t>separate models: </a:t>
            </a:r>
          </a:p>
          <a:p>
            <a:pPr lvl="1"/>
            <a:r>
              <a:rPr lang="en-US" dirty="0"/>
              <a:t>Ridge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Logistic Regression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</a:t>
            </a:r>
          </a:p>
          <a:p>
            <a:r>
              <a:rPr lang="en-US" dirty="0"/>
              <a:t>What to say:</a:t>
            </a:r>
          </a:p>
          <a:p>
            <a:r>
              <a:rPr lang="en-US" dirty="0"/>
              <a:t>Classical NLP here means preprocessing and sparse text representation </a:t>
            </a:r>
          </a:p>
          <a:p>
            <a:r>
              <a:rPr lang="en-US" dirty="0"/>
              <a:t>I used unigrams and bigrams because short phrases like “too small” or “not flattering” were important </a:t>
            </a:r>
          </a:p>
          <a:p>
            <a:r>
              <a:rPr lang="en-US" dirty="0"/>
              <a:t>Separate models were used because the targets are different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832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Classical NLP preprocessing: </a:t>
            </a:r>
          </a:p>
          <a:p>
            <a:pPr lvl="1"/>
            <a:r>
              <a:rPr lang="en-US" dirty="0"/>
              <a:t>lowercasing </a:t>
            </a:r>
          </a:p>
          <a:p>
            <a:pPr lvl="1"/>
            <a:r>
              <a:rPr lang="en-US" dirty="0"/>
              <a:t>light text cleaning </a:t>
            </a:r>
          </a:p>
          <a:p>
            <a:pPr lvl="1"/>
            <a:r>
              <a:rPr lang="en-US" dirty="0"/>
              <a:t>missing text handling </a:t>
            </a:r>
          </a:p>
          <a:p>
            <a:pPr lvl="1"/>
            <a:r>
              <a:rPr lang="en-US" dirty="0"/>
              <a:t>missingness indicators </a:t>
            </a:r>
          </a:p>
          <a:p>
            <a:pPr lvl="1"/>
            <a:r>
              <a:rPr lang="en-US" dirty="0"/>
              <a:t>text length features </a:t>
            </a:r>
          </a:p>
          <a:p>
            <a:r>
              <a:rPr lang="en-US" dirty="0"/>
              <a:t>Text representation: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CountVectorizer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unigrams + bigrams </a:t>
            </a:r>
          </a:p>
          <a:p>
            <a:r>
              <a:rPr lang="en-US" dirty="0"/>
              <a:t>Separate models: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→ Ridge regression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→ Logistic Regression </a:t>
            </a:r>
          </a:p>
          <a:p>
            <a:r>
              <a:rPr lang="en-US" dirty="0"/>
              <a:t>Additional metadata: </a:t>
            </a:r>
          </a:p>
          <a:p>
            <a:pPr lvl="1"/>
            <a:r>
              <a:rPr lang="en-US" dirty="0"/>
              <a:t>Age </a:t>
            </a:r>
          </a:p>
          <a:p>
            <a:pPr lvl="1"/>
            <a:r>
              <a:rPr lang="en-US" dirty="0" err="1"/>
              <a:t>Pos_Feedback_Cnt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Division / Department / </a:t>
            </a:r>
            <a:r>
              <a:rPr lang="en-US" dirty="0" err="1"/>
              <a:t>Product_Category</a:t>
            </a:r>
            <a:endParaRPr lang="en-US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After EDA, I built the first predictive baseline using classical NLP and Bag-of-Words.</a:t>
            </a:r>
            <a:br>
              <a:rPr lang="en-US" dirty="0"/>
            </a:br>
            <a:r>
              <a:rPr lang="en-US" dirty="0"/>
              <a:t>I used light preprocessing, handled missing text explicitly, and represented the reviews with word and phrase counts using </a:t>
            </a:r>
            <a:r>
              <a:rPr lang="en-US" dirty="0" err="1"/>
              <a:t>CountVectorizer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 also added metadata and trained separate models for the two targets: Ridge regression for Rating and Logistic Regression for Recommended.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121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compared several output formats because the competition uses mean </a:t>
            </a:r>
            <a:r>
              <a:rPr lang="en-US" dirty="0" err="1"/>
              <a:t>columnwise</a:t>
            </a:r>
            <a:r>
              <a:rPr lang="en-US" dirty="0"/>
              <a:t> Spearman correlation.</a:t>
            </a:r>
            <a:br>
              <a:rPr lang="en-US" dirty="0"/>
            </a:br>
            <a:r>
              <a:rPr lang="en-US" dirty="0"/>
              <a:t>For Rating, continuous predictions worked better locally than rounded ones, because they preserve ranking information.</a:t>
            </a:r>
            <a:br>
              <a:rPr lang="en-US" dirty="0"/>
            </a:br>
            <a:r>
              <a:rPr lang="en-US" dirty="0"/>
              <a:t>For Recommended, hard class labels performed better than probabilities in this baseline.</a:t>
            </a:r>
            <a:br>
              <a:rPr lang="en-US" dirty="0"/>
            </a:br>
            <a:r>
              <a:rPr lang="en-US" dirty="0"/>
              <a:t>Since Kaggle requires integer ratings, the final Bag-of-Words submission used rounded Rating and hard-label Recommended.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001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public leaderboard score for the Bag-of-Words baseline was 0.64544.</a:t>
            </a:r>
            <a:br>
              <a:rPr lang="en-US" dirty="0"/>
            </a:br>
            <a:r>
              <a:rPr lang="en-US" dirty="0"/>
              <a:t>This was already a strong and stable result, especially for the binary Recommended target.</a:t>
            </a:r>
            <a:br>
              <a:rPr lang="en-US" dirty="0"/>
            </a:br>
            <a:r>
              <a:rPr lang="en-US" dirty="0"/>
              <a:t>But because Bag-of-Words ignores word order beyond local n-grams, I next tested a sequential neural network.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732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Embedding </a:t>
            </a:r>
          </a:p>
          <a:p>
            <a:r>
              <a:rPr lang="en-US" dirty="0"/>
              <a:t>GRU </a:t>
            </a:r>
          </a:p>
          <a:p>
            <a:r>
              <a:rPr lang="en-US" dirty="0"/>
              <a:t>Dense layer </a:t>
            </a:r>
          </a:p>
          <a:p>
            <a:r>
              <a:rPr lang="en-US" dirty="0"/>
              <a:t>Separate models: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→ regression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→ classification</a:t>
            </a:r>
          </a:p>
          <a:p>
            <a:endParaRPr lang="en-GB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performed well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initially failed </a:t>
            </a:r>
          </a:p>
          <a:p>
            <a:r>
              <a:rPr lang="en-US" dirty="0"/>
              <a:t>Validation probabilities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collapsed near 0.5 </a:t>
            </a:r>
          </a:p>
          <a:p>
            <a:r>
              <a:rPr lang="en-US" dirty="0"/>
              <a:t>Model predicted almost all reviews as recommended </a:t>
            </a:r>
          </a:p>
          <a:p>
            <a:r>
              <a:rPr lang="en-US" dirty="0"/>
              <a:t>You can add a small diagnostic note:</a:t>
            </a:r>
          </a:p>
          <a:p>
            <a:r>
              <a:rPr lang="en-US" dirty="0"/>
              <a:t>Prediction collapse due to unstable training / imbalance handling</a:t>
            </a:r>
          </a:p>
          <a:p>
            <a:endParaRPr lang="en-GB" dirty="0"/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first RNN attempt was not immediately successful.</a:t>
            </a:r>
            <a:br>
              <a:rPr lang="en-US" dirty="0"/>
            </a:br>
            <a:r>
              <a:rPr lang="en-US" dirty="0"/>
              <a:t>The Rating model worked well, but the Recommended model collapsed: predicted probabilities were concentrated near 0.5 and most examples were classified as recommended.</a:t>
            </a:r>
            <a:br>
              <a:rPr lang="en-US" dirty="0"/>
            </a:br>
            <a:r>
              <a:rPr lang="en-US" dirty="0"/>
              <a:t>This led to a very poor Recommended Spearman score, so I diagnosed and fixed the training setup rather than keeping the initial result.</a:t>
            </a:r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Fixing the RNN</a:t>
            </a:r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Removed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class_weight</a:t>
            </a:r>
            <a:r>
              <a:rPr lang="en-US" dirty="0"/>
              <a:t> </a:t>
            </a:r>
          </a:p>
          <a:p>
            <a:r>
              <a:rPr lang="en-US" dirty="0"/>
              <a:t>Reduced dropout from 0.3 to 0.2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</a:t>
            </a:r>
          </a:p>
          <a:p>
            <a:r>
              <a:rPr lang="en-US" dirty="0"/>
              <a:t>Lowered learning rate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5e-4</a:t>
            </a:r>
            <a:r>
              <a:rPr lang="en-US" dirty="0"/>
              <a:t> </a:t>
            </a:r>
          </a:p>
          <a:p>
            <a:r>
              <a:rPr lang="en-US" dirty="0"/>
              <a:t>Rechecked: </a:t>
            </a:r>
          </a:p>
          <a:p>
            <a:pPr lvl="1"/>
            <a:r>
              <a:rPr lang="en-US" dirty="0"/>
              <a:t>probability distribution </a:t>
            </a:r>
          </a:p>
          <a:p>
            <a:pPr lvl="1"/>
            <a:r>
              <a:rPr lang="en-US" dirty="0"/>
              <a:t>label counts </a:t>
            </a:r>
          </a:p>
          <a:p>
            <a:pPr lvl="1"/>
            <a:r>
              <a:rPr lang="en-US" dirty="0"/>
              <a:t>confusion matrix </a:t>
            </a:r>
          </a:p>
          <a:p>
            <a:pPr lvl="1"/>
            <a:r>
              <a:rPr lang="en-US" dirty="0"/>
              <a:t>validation Spearman</a:t>
            </a:r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I improved the RNN by making the recommendation branch more stable.</a:t>
            </a:r>
            <a:br>
              <a:rPr lang="en-US" dirty="0"/>
            </a:br>
            <a:r>
              <a:rPr lang="en-US" dirty="0"/>
              <a:t>The main changes were removing class weights, lowering dropout, and reducing the learning rate.</a:t>
            </a:r>
            <a:br>
              <a:rPr lang="en-US" dirty="0"/>
            </a:br>
            <a:r>
              <a:rPr lang="en-US" dirty="0"/>
              <a:t>After that, the recommendation probabilities became much more meaningful and the model stopped collapsing to trivial predictions.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Best local RNN setup: rounded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</a:t>
            </a:r>
          </a:p>
          <a:p>
            <a:r>
              <a:rPr lang="en-US" dirty="0"/>
              <a:t>hard-label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</a:t>
            </a:r>
          </a:p>
          <a:p>
            <a:r>
              <a:rPr lang="en-US" dirty="0"/>
              <a:t>Final Kaggle score: </a:t>
            </a:r>
            <a:r>
              <a:rPr lang="en-US" b="1" dirty="0"/>
              <a:t>0.67891</a:t>
            </a:r>
            <a:r>
              <a:rPr lang="en-US" dirty="0"/>
              <a:t> Better than Bag-of-Words baseline</a:t>
            </a:r>
          </a:p>
          <a:p>
            <a:r>
              <a:rPr lang="en-US" dirty="0"/>
              <a:t>After tuning, the RNN became clearly stronger than the Bag-of-Words baseline.</a:t>
            </a:r>
            <a:br>
              <a:rPr lang="en-US" dirty="0"/>
            </a:br>
            <a:r>
              <a:rPr lang="en-US" dirty="0"/>
              <a:t>Its public leaderboard score was 0.67891, compared with 0.64544 for the classical baseline.</a:t>
            </a:r>
            <a:br>
              <a:rPr lang="en-US" dirty="0"/>
            </a:br>
            <a:r>
              <a:rPr lang="en-US" dirty="0"/>
              <a:t>This showed that sequential modeling helped, especially for Rating.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383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Bag-of-Words was strongest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</a:t>
            </a:r>
          </a:p>
          <a:p>
            <a:r>
              <a:rPr lang="en-US" dirty="0"/>
              <a:t>RNN was strongest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</a:t>
            </a:r>
          </a:p>
          <a:p>
            <a:r>
              <a:rPr lang="en-US" dirty="0"/>
              <a:t>Idea: combine the best model family for each target </a:t>
            </a:r>
          </a:p>
          <a:p>
            <a:r>
              <a:rPr lang="en-US" b="1" dirty="0"/>
              <a:t>Hybrid setup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→ RNN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→ Bag-of-Words </a:t>
            </a:r>
          </a:p>
          <a:p>
            <a:r>
              <a:rPr lang="en-US" b="1" dirty="0"/>
              <a:t>What to say</a:t>
            </a:r>
          </a:p>
          <a:p>
            <a:r>
              <a:rPr lang="en-US" dirty="0"/>
              <a:t>The experiments suggested that different targets benefit from different model families.</a:t>
            </a:r>
            <a:br>
              <a:rPr lang="en-US" dirty="0"/>
            </a:br>
            <a:r>
              <a:rPr lang="en-US" dirty="0"/>
              <a:t>The RNN captured the ordinal Rating signal very well, while the sparse Bag-of-Words model remained extremely strong for Recommended.</a:t>
            </a:r>
            <a:br>
              <a:rPr lang="en-US" dirty="0"/>
            </a:br>
            <a:r>
              <a:rPr lang="en-US" dirty="0"/>
              <a:t>So I built a hybrid model that uses the best branch for each target.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323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hybrid was the best local configuration.</a:t>
            </a:r>
            <a:br>
              <a:rPr lang="en-US" dirty="0"/>
            </a:br>
            <a:r>
              <a:rPr lang="en-US" dirty="0"/>
              <a:t>The strongest setup used rounded RNN predictions for Rating and hard-label Bag-of-Words predictions for Recommended.</a:t>
            </a:r>
            <a:br>
              <a:rPr lang="en-US" dirty="0"/>
            </a:br>
            <a:r>
              <a:rPr lang="en-US" dirty="0"/>
              <a:t>This confirmed the idea that the two targets should not necessarily be modeled with the same approach.</a:t>
            </a:r>
          </a:p>
          <a:p>
            <a:endParaRPr lang="en-US" dirty="0"/>
          </a:p>
          <a:p>
            <a:r>
              <a:rPr lang="en-US" dirty="0"/>
              <a:t>The hybrid submission achieved the best public leaderboard score: 0.69699.</a:t>
            </a:r>
            <a:br>
              <a:rPr lang="en-US" dirty="0"/>
            </a:br>
            <a:r>
              <a:rPr lang="en-US" dirty="0"/>
              <a:t>It outperformed both standalone model families, which supports the final modeling choice.</a:t>
            </a:r>
            <a:br>
              <a:rPr lang="en-US" dirty="0"/>
            </a:br>
            <a:r>
              <a:rPr lang="en-US" dirty="0"/>
              <a:t>So the best final system was not the most complex single model, but the best combination of two complementary approaches.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324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Threshold tuning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did not improve the score </a:t>
            </a:r>
          </a:p>
          <a:p>
            <a:r>
              <a:rPr lang="en-US" dirty="0"/>
              <a:t>TF-IDF instead of </a:t>
            </a:r>
            <a:r>
              <a:rPr lang="en-US" dirty="0" err="1"/>
              <a:t>CountVectorizer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slightly worse than </a:t>
            </a:r>
            <a:r>
              <a:rPr lang="en-US" dirty="0" err="1"/>
              <a:t>BoW</a:t>
            </a:r>
            <a:r>
              <a:rPr lang="en-US" dirty="0"/>
              <a:t> </a:t>
            </a:r>
          </a:p>
          <a:p>
            <a:r>
              <a:rPr lang="en-US" dirty="0"/>
              <a:t>Huber loss for RNN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improved local validation </a:t>
            </a:r>
          </a:p>
          <a:p>
            <a:pPr lvl="1"/>
            <a:r>
              <a:rPr lang="en-US" dirty="0"/>
              <a:t>did not improve public leaderboard </a:t>
            </a:r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I also tested several improvements.</a:t>
            </a:r>
            <a:br>
              <a:rPr lang="en-US" dirty="0"/>
            </a:br>
            <a:r>
              <a:rPr lang="en-US" dirty="0"/>
              <a:t>Threshold tuning for Recommended did not help.</a:t>
            </a:r>
            <a:br>
              <a:rPr lang="en-US" dirty="0"/>
            </a:br>
            <a:r>
              <a:rPr lang="en-US" dirty="0"/>
              <a:t>Replacing Bag-of-Words with TF-IDF was slightly worse in this dataset.</a:t>
            </a:r>
            <a:br>
              <a:rPr lang="en-US" dirty="0"/>
            </a:br>
            <a:r>
              <a:rPr lang="en-US" dirty="0"/>
              <a:t>Huber loss improved local validation for Rating, but did not translate into a better public leaderboard score than the main hybrid submission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492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showed: strong class imbalance toward positive reviews </a:t>
            </a:r>
          </a:p>
          <a:p>
            <a:r>
              <a:rPr lang="en-US" dirty="0"/>
              <a:t>strong link between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Recommended</a:t>
            </a:r>
            <a:r>
              <a:rPr lang="en-US" dirty="0"/>
              <a:t> </a:t>
            </a:r>
          </a:p>
          <a:p>
            <a:r>
              <a:rPr lang="en-US" dirty="0"/>
              <a:t>missing text itself carried information </a:t>
            </a:r>
          </a:p>
          <a:p>
            <a:r>
              <a:rPr lang="en-US" dirty="0"/>
              <a:t>Bag-of-Words gave a strong interpretable baseline RNN improved sequential text modeling Hybrid model was best overall Final public score: </a:t>
            </a:r>
            <a:r>
              <a:rPr lang="en-US" b="1" dirty="0"/>
              <a:t>0.69699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9863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advanced </a:t>
            </a:r>
            <a:r>
              <a:rPr lang="en-US" dirty="0" err="1"/>
              <a:t>ensembling</a:t>
            </a:r>
            <a:r>
              <a:rPr lang="en-US" dirty="0"/>
              <a:t> </a:t>
            </a:r>
          </a:p>
          <a:p>
            <a:r>
              <a:rPr lang="en-US" dirty="0"/>
              <a:t>Better rating blending </a:t>
            </a:r>
          </a:p>
          <a:p>
            <a:r>
              <a:rPr lang="en-US" dirty="0"/>
              <a:t>Character n-grams for sparse models </a:t>
            </a:r>
          </a:p>
          <a:p>
            <a:r>
              <a:rPr lang="en-US" dirty="0"/>
              <a:t>Functional API model combining text and metadata </a:t>
            </a:r>
          </a:p>
          <a:p>
            <a:r>
              <a:rPr lang="en-US" dirty="0"/>
              <a:t>More careful cross-validation / multiple random splits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9EE23-E0B4-844F-8556-21E3C5FE9B7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8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86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8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61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07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2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4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4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1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73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7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2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78" r:id="rId3"/>
    <p:sldLayoutId id="2147483677" r:id="rId4"/>
    <p:sldLayoutId id="2147483676" r:id="rId5"/>
    <p:sldLayoutId id="2147483675" r:id="rId6"/>
    <p:sldLayoutId id="2147483674" r:id="rId7"/>
    <p:sldLayoutId id="2147483673" r:id="rId8"/>
    <p:sldLayoutId id="2147483672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0A525A-7DAE-ECC2-40D4-6934073077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AC3EE-A276-4DAA-FD66-B7CE57F74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806" y="1614699"/>
            <a:ext cx="4470544" cy="347472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60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Final Project: Fashion Review Prediction</a:t>
            </a:r>
            <a:endParaRPr lang="en-GB" sz="58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52EE6-40AB-793A-F9FD-42FA9C040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472" y="609608"/>
            <a:ext cx="2006600" cy="647700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77FB6B2D-5BD1-347A-EA84-8D56829E7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754" y="5089419"/>
            <a:ext cx="3398853" cy="1414091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Daria Proniakova</a:t>
            </a:r>
          </a:p>
        </p:txBody>
      </p:sp>
    </p:spTree>
    <p:extLst>
      <p:ext uri="{BB962C8B-B14F-4D97-AF65-F5344CB8AC3E}">
        <p14:creationId xmlns:p14="http://schemas.microsoft.com/office/powerpoint/2010/main" val="55412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7D7A-775F-35B4-26DB-5E216C4D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 instruments that were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83CC9-829A-8D81-1EB3-1FC872B80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Technologies and tools used:</a:t>
            </a:r>
            <a:endParaRPr lang="en-US" dirty="0"/>
          </a:p>
          <a:p>
            <a:r>
              <a:rPr lang="en-US" dirty="0"/>
              <a:t>Python </a:t>
            </a:r>
          </a:p>
          <a:p>
            <a:r>
              <a:rPr lang="en-US" dirty="0" err="1"/>
              <a:t>Jupyter</a:t>
            </a:r>
            <a:r>
              <a:rPr lang="en-US" dirty="0"/>
              <a:t> Notebook / VS Code / Google </a:t>
            </a:r>
            <a:r>
              <a:rPr lang="en-US" dirty="0" err="1"/>
              <a:t>Colab</a:t>
            </a:r>
            <a:r>
              <a:rPr lang="en-US" dirty="0"/>
              <a:t> </a:t>
            </a:r>
          </a:p>
          <a:p>
            <a:r>
              <a:rPr lang="en-US" dirty="0"/>
              <a:t>pandas, NumPy, SciPy </a:t>
            </a:r>
          </a:p>
          <a:p>
            <a:r>
              <a:rPr lang="en-US" dirty="0"/>
              <a:t>Matplotlib, Seaborn </a:t>
            </a:r>
          </a:p>
          <a:p>
            <a:r>
              <a:rPr lang="en-US" dirty="0"/>
              <a:t>scikit-learn </a:t>
            </a:r>
          </a:p>
          <a:p>
            <a:r>
              <a:rPr lang="en-US" dirty="0"/>
              <a:t>TensorFlow / </a:t>
            </a:r>
            <a:r>
              <a:rPr lang="en-US" dirty="0" err="1"/>
              <a:t>Keras</a:t>
            </a:r>
            <a:r>
              <a:rPr lang="en-US" dirty="0"/>
              <a:t> </a:t>
            </a:r>
          </a:p>
          <a:p>
            <a:r>
              <a:rPr lang="en-US" dirty="0"/>
              <a:t>Kaggle </a:t>
            </a:r>
          </a:p>
          <a:p>
            <a:endParaRPr lang="en-GB" dirty="0"/>
          </a:p>
        </p:txBody>
      </p:sp>
      <p:pic>
        <p:nvPicPr>
          <p:cNvPr id="4098" name="Picture 2" descr="Python Tool Review: Using PyCharm for ...">
            <a:extLst>
              <a:ext uri="{FF2B5EF4-FFF2-40B4-BE49-F238E27FC236}">
                <a16:creationId xmlns:a16="http://schemas.microsoft.com/office/drawing/2014/main" id="{BDF7BB4E-6C7F-5EDC-FAA8-8A5FC4654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209" y="1529903"/>
            <a:ext cx="937144" cy="93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laude - Review 2026 - PCMag UK">
            <a:extLst>
              <a:ext uri="{FF2B5EF4-FFF2-40B4-BE49-F238E27FC236}">
                <a16:creationId xmlns:a16="http://schemas.microsoft.com/office/drawing/2014/main" id="{EC1713DD-F479-7677-9B4D-90DCAF7AC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656" y="2605725"/>
            <a:ext cx="3067400" cy="171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hatGPT Edu - Centre for Teaching ...">
            <a:extLst>
              <a:ext uri="{FF2B5EF4-FFF2-40B4-BE49-F238E27FC236}">
                <a16:creationId xmlns:a16="http://schemas.microsoft.com/office/drawing/2014/main" id="{36A3A5B5-4928-041A-6EB0-398404CAC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3779" y="1983540"/>
            <a:ext cx="925292" cy="92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C0E87B0E-39B7-A1C2-9F2A-FF0276E61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4554" y="5005573"/>
            <a:ext cx="2714799" cy="72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sual Studio Code - Wikipedia">
            <a:extLst>
              <a:ext uri="{FF2B5EF4-FFF2-40B4-BE49-F238E27FC236}">
                <a16:creationId xmlns:a16="http://schemas.microsoft.com/office/drawing/2014/main" id="{49D7110B-61D1-F51B-E59A-276786D7E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763" y="245998"/>
            <a:ext cx="1132259" cy="113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ensorFlow - Wikipedia">
            <a:extLst>
              <a:ext uri="{FF2B5EF4-FFF2-40B4-BE49-F238E27FC236}">
                <a16:creationId xmlns:a16="http://schemas.microsoft.com/office/drawing/2014/main" id="{3037613C-3CF1-B8B2-9A42-BE329991A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7759" y="3778105"/>
            <a:ext cx="1926919" cy="122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 Colab - A Step-by-step Guide ...">
            <a:extLst>
              <a:ext uri="{FF2B5EF4-FFF2-40B4-BE49-F238E27FC236}">
                <a16:creationId xmlns:a16="http://schemas.microsoft.com/office/drawing/2014/main" id="{59849491-EB21-3C04-46C5-3D191DC12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9506" y="810317"/>
            <a:ext cx="1926919" cy="128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ython (programming language) - Wikipedia">
            <a:extLst>
              <a:ext uri="{FF2B5EF4-FFF2-40B4-BE49-F238E27FC236}">
                <a16:creationId xmlns:a16="http://schemas.microsoft.com/office/drawing/2014/main" id="{1BFB0EE0-E66C-EF11-45CE-B300FBE07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997" y="2536797"/>
            <a:ext cx="1079645" cy="107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35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C311-D769-6825-2C0C-DD2FDB11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workflow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001BB-EFF0-BDF3-AA3B-3187D4593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647832"/>
            <a:ext cx="10653579" cy="3661528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67467-B8C1-5698-2627-F8A519C171DE}"/>
              </a:ext>
            </a:extLst>
          </p:cNvPr>
          <p:cNvSpPr txBox="1"/>
          <p:nvPr/>
        </p:nvSpPr>
        <p:spPr>
          <a:xfrm>
            <a:off x="437322" y="1515574"/>
            <a:ext cx="106535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/>
              <a:t>EDA → Classical NLP / </a:t>
            </a:r>
            <a:r>
              <a:rPr lang="en-US" sz="3200" b="1" dirty="0" err="1"/>
              <a:t>BoW</a:t>
            </a:r>
            <a:r>
              <a:rPr lang="en-US" sz="3200" b="1" dirty="0"/>
              <a:t> baseline → RNN model → Hybrid model → Final submission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06634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6D34-69E6-59A8-BD5F-46CCF18F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evaluation metric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92AE3-6DDF-DE99-9D20-CCFA287E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962" y="1569265"/>
            <a:ext cx="10653579" cy="459382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Data structure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Input features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Target variables</a:t>
            </a:r>
          </a:p>
          <a:p>
            <a:endParaRPr lang="en-US" dirty="0"/>
          </a:p>
          <a:p>
            <a:r>
              <a:rPr lang="en-US" dirty="0"/>
              <a:t>Evaluation metric: 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Mean Spearman correlation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81B70-232F-F6F9-D277-72C8EBDEEF7E}"/>
              </a:ext>
            </a:extLst>
          </p:cNvPr>
          <p:cNvSpPr txBox="1"/>
          <p:nvPr/>
        </p:nvSpPr>
        <p:spPr>
          <a:xfrm>
            <a:off x="2867439" y="1410264"/>
            <a:ext cx="48055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Train shape: 14091 rows, 10 columns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Test shape: 9395 rows, 8 columns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Sample submission: 9395 rows, 3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4AB80-1E39-A5EF-4D18-CF71F4F0F054}"/>
              </a:ext>
            </a:extLst>
          </p:cNvPr>
          <p:cNvSpPr txBox="1"/>
          <p:nvPr/>
        </p:nvSpPr>
        <p:spPr>
          <a:xfrm>
            <a:off x="2867439" y="2462018"/>
            <a:ext cx="610262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</a:p>
          <a:p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Review_Title</a:t>
            </a:r>
            <a:endParaRPr lang="en-GB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Review</a:t>
            </a:r>
          </a:p>
          <a:p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Pos_Feedback_Cnt</a:t>
            </a:r>
            <a:endParaRPr lang="en-GB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Division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Department</a:t>
            </a:r>
          </a:p>
          <a:p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Product_Category</a:t>
            </a:r>
            <a:endParaRPr lang="en-GB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0489F-4285-8A9C-8A1C-8CC603792026}"/>
              </a:ext>
            </a:extLst>
          </p:cNvPr>
          <p:cNvSpPr txBox="1"/>
          <p:nvPr/>
        </p:nvSpPr>
        <p:spPr>
          <a:xfrm>
            <a:off x="2888124" y="4785863"/>
            <a:ext cx="61026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Rating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(values from 1 to 5)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Recommended (0 or 1)</a:t>
            </a:r>
            <a:endParaRPr lang="en-GB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A9538A-06BB-3D5E-2D39-B5091647A496}"/>
              </a:ext>
            </a:extLst>
          </p:cNvPr>
          <p:cNvSpPr txBox="1"/>
          <p:nvPr/>
        </p:nvSpPr>
        <p:spPr>
          <a:xfrm>
            <a:off x="1258957" y="6155471"/>
            <a:ext cx="115890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Score = (Spearman(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Rating_true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Rating_pred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 + Spearman(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Recommended_true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Recommended_pred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)) / 2</a:t>
            </a:r>
          </a:p>
        </p:txBody>
      </p:sp>
    </p:spTree>
    <p:extLst>
      <p:ext uri="{BB962C8B-B14F-4D97-AF65-F5344CB8AC3E}">
        <p14:creationId xmlns:p14="http://schemas.microsoft.com/office/powerpoint/2010/main" val="394130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A1E23-CFD9-EFFC-D8A4-E23EE364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D494C-AA1C-98F9-ABE8-5384DEA8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478622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dirty="0"/>
              <a:t>EDA: target distributions and data patterns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24E58E-9038-EEE1-EB47-FF659BA31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303" y="1364671"/>
            <a:ext cx="3557716" cy="2383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59A100-3B26-DE13-A008-934A5E0529F8}"/>
              </a:ext>
            </a:extLst>
          </p:cNvPr>
          <p:cNvSpPr txBox="1"/>
          <p:nvPr/>
        </p:nvSpPr>
        <p:spPr>
          <a:xfrm>
            <a:off x="586409" y="3825842"/>
            <a:ext cx="37868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Rating 1: 502 samples, 3.56%</a:t>
            </a:r>
          </a:p>
          <a:p>
            <a:r>
              <a:rPr lang="en-GB" dirty="0">
                <a:latin typeface="Aptos" panose="020B0004020202020204" pitchFamily="34" charset="0"/>
              </a:rPr>
              <a:t>Rating 2: 933 samples, 6.62%</a:t>
            </a:r>
          </a:p>
          <a:p>
            <a:r>
              <a:rPr lang="en-GB" dirty="0">
                <a:latin typeface="Aptos" panose="020B0004020202020204" pitchFamily="34" charset="0"/>
              </a:rPr>
              <a:t>Rating 3: 1748 samples, 12.41%</a:t>
            </a:r>
          </a:p>
          <a:p>
            <a:r>
              <a:rPr lang="en-GB" dirty="0">
                <a:latin typeface="Aptos" panose="020B0004020202020204" pitchFamily="34" charset="0"/>
              </a:rPr>
              <a:t>Rating 4: 3001 samples, 21.30%</a:t>
            </a:r>
          </a:p>
          <a:p>
            <a:r>
              <a:rPr lang="en-GB" dirty="0">
                <a:latin typeface="Aptos" panose="020B0004020202020204" pitchFamily="34" charset="0"/>
              </a:rPr>
              <a:t>Rating 5: 7907 samples, 56.11%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C581A4-7BDC-CB5B-5CB8-1FE87ECAD642}"/>
              </a:ext>
            </a:extLst>
          </p:cNvPr>
          <p:cNvSpPr txBox="1"/>
          <p:nvPr/>
        </p:nvSpPr>
        <p:spPr>
          <a:xfrm>
            <a:off x="5915992" y="4558641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Recommended = 0: 2501 samples, 17.75%</a:t>
            </a:r>
          </a:p>
          <a:p>
            <a:r>
              <a:rPr lang="en-GB" dirty="0"/>
              <a:t>Recommended = 1: 11590 samples, 82.25%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6D1F78-8E96-5CEC-9674-0BD9AB4DA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009" y="1364671"/>
            <a:ext cx="3557716" cy="299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6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94A25D-75B0-8601-1557-DC6329F4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FBA05-F4D9-B2BF-1746-7FB07035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30" y="139205"/>
            <a:ext cx="5403574" cy="3841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25478-F2B0-E628-06D8-5B7D2331E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304" y="182298"/>
            <a:ext cx="3703272" cy="24758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07A2A4-15D7-F939-C641-F37DD3E23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774" y="4167786"/>
            <a:ext cx="2754546" cy="1954839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8D56C9-432F-426C-1D23-AFC0457EE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B01B9A-B5F8-34E5-E3B7-CE35DD0C95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2698" y="2383718"/>
            <a:ext cx="3650029" cy="23507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553CBC-721B-FE07-0CBE-729E0CF2DC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8431" y="4464002"/>
            <a:ext cx="3252898" cy="211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4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B97C-3955-EE84-5F35-92D0CA55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0F128-51C1-F03A-AFCF-AE1BA95D9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28DE1-86F8-7677-AC0D-45CE8E22D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26" y="2502147"/>
            <a:ext cx="5446279" cy="3877813"/>
          </a:xfrm>
          <a:prstGeom prst="rect">
            <a:avLst/>
          </a:prstGeom>
        </p:spPr>
      </p:pic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4DBF2723-771A-947B-B8ED-3DABA9E63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" y="512674"/>
            <a:ext cx="4954839" cy="1954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3C6F95-2C82-EE45-DDCE-155ADCB8C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486" y="366704"/>
            <a:ext cx="3244373" cy="2556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A7420C-1469-4DA0-0DAA-D2020E7FA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859" y="207865"/>
            <a:ext cx="3188755" cy="254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4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C5AECB1-8254-3357-3EB3-6A75DA093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06DA4-AA35-77A3-450A-24166A2509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8" r="9529" b="-1"/>
          <a:stretch>
            <a:fillRect/>
          </a:stretch>
        </p:blipFill>
        <p:spPr>
          <a:xfrm>
            <a:off x="191406" y="50006"/>
            <a:ext cx="3815730" cy="22393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6B53A6-21C2-5F4B-8C5D-2508F37083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295"/>
          <a:stretch>
            <a:fillRect/>
          </a:stretch>
        </p:blipFill>
        <p:spPr>
          <a:xfrm>
            <a:off x="191406" y="2348393"/>
            <a:ext cx="3815730" cy="2247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475563-7AED-5E95-88C3-3F4565B0C3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751" b="-2"/>
          <a:stretch>
            <a:fillRect/>
          </a:stretch>
        </p:blipFill>
        <p:spPr>
          <a:xfrm>
            <a:off x="191407" y="4595969"/>
            <a:ext cx="3815729" cy="226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18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1046-3E9E-6865-F748-A8C73A9E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EDA: missing values and text behavior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9BD00-6260-5610-80D1-D0DC6F444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563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2B7E-BBC2-5875-5EA5-0BF2CF63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NLP preprocessing and Bag-of-Words baseline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D81DA-B2E6-4423-4299-3D3B83DF0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462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B5F8-2515-3E9D-C526-582E0E49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Bag-of-Words model: setup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55292-3631-1D8D-D764-F6A0AC20C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345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7498-2256-293C-558F-6C142F0C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Bag-of-Words validation results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1DAB98-F997-E9BB-47B6-4847DBAE5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7881" y="3186906"/>
            <a:ext cx="102235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9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9D11C-6ACF-CBC3-0417-F705C8F5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Bag-of-Words interpretation</a:t>
            </a:r>
            <a:br>
              <a:rPr lang="en-US" dirty="0"/>
            </a:br>
            <a:r>
              <a:rPr lang="en-US" sz="2800" b="0" dirty="0"/>
              <a:t>What the Bag-of-Words model learned</a:t>
            </a:r>
            <a:endParaRPr lang="en-GB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CE05DB-2D98-4F6F-27E9-10669BE81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535" y="548640"/>
            <a:ext cx="4699141" cy="2773098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4994208-7F69-547F-704D-3CAB6FA5A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684625" y="6049995"/>
            <a:ext cx="5327051" cy="463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5E117-6774-5F2B-58C2-23CA83186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9896" y="2029779"/>
            <a:ext cx="4894729" cy="279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5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DC7BB-B241-2AED-5DCC-33B7F56CE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model: setup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70FB-5058-7207-4D46-9C7BF26E8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attempt -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C8A210-2F9E-CD7C-A3DB-EDC616283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830" y="1715532"/>
            <a:ext cx="5791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Rating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performed well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Recommended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initially failed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probabilities for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Recommended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collapsed near 0.5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predicted almost all reviews as recommended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CFC899-88D1-C982-9A16-5625BB39F838}"/>
              </a:ext>
            </a:extLst>
          </p:cNvPr>
          <p:cNvSpPr txBox="1"/>
          <p:nvPr/>
        </p:nvSpPr>
        <p:spPr>
          <a:xfrm>
            <a:off x="612647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Fixing the RNN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07F21-8ABF-FB8E-37F4-92AC273EA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243" y="4797120"/>
            <a:ext cx="7772400" cy="6906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932C5A-A303-31A8-BD63-E2A5DE1A2C5F}"/>
              </a:ext>
            </a:extLst>
          </p:cNvPr>
          <p:cNvSpPr txBox="1"/>
          <p:nvPr/>
        </p:nvSpPr>
        <p:spPr>
          <a:xfrm>
            <a:off x="612647" y="46713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Fixing the RNN</a:t>
            </a:r>
          </a:p>
        </p:txBody>
      </p:sp>
    </p:spTree>
    <p:extLst>
      <p:ext uri="{BB962C8B-B14F-4D97-AF65-F5344CB8AC3E}">
        <p14:creationId xmlns:p14="http://schemas.microsoft.com/office/powerpoint/2010/main" val="2057712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2344-2617-D2C5-A56C-F462BFB0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 hybrid model?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8E748-A969-E17B-0AB6-9F177BDBE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Bag-of-Words was strongest for Recommended </a:t>
            </a:r>
          </a:p>
          <a:p>
            <a:r>
              <a:rPr lang="en-US" dirty="0"/>
              <a:t>RNN was strongest for Rating </a:t>
            </a:r>
          </a:p>
          <a:p>
            <a:r>
              <a:rPr lang="en-US" dirty="0"/>
              <a:t>Idea: combine the best model family for each target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74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D754-F591-28DA-6FC5-17AC13E1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validation results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D4BAAE-966C-A084-18CD-6BF53CAD49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923295"/>
              </p:ext>
            </p:extLst>
          </p:nvPr>
        </p:nvGraphicFramePr>
        <p:xfrm>
          <a:off x="612512" y="4630715"/>
          <a:ext cx="10653714" cy="1463040"/>
        </p:xfrm>
        <a:graphic>
          <a:graphicData uri="http://schemas.openxmlformats.org/drawingml/2006/table">
            <a:tbl>
              <a:tblPr/>
              <a:tblGrid>
                <a:gridCol w="3551238">
                  <a:extLst>
                    <a:ext uri="{9D8B030D-6E8A-4147-A177-3AD203B41FA5}">
                      <a16:colId xmlns:a16="http://schemas.microsoft.com/office/drawing/2014/main" val="1122791115"/>
                    </a:ext>
                  </a:extLst>
                </a:gridCol>
                <a:gridCol w="3551238">
                  <a:extLst>
                    <a:ext uri="{9D8B030D-6E8A-4147-A177-3AD203B41FA5}">
                      <a16:colId xmlns:a16="http://schemas.microsoft.com/office/drawing/2014/main" val="595070134"/>
                    </a:ext>
                  </a:extLst>
                </a:gridCol>
                <a:gridCol w="3551238">
                  <a:extLst>
                    <a:ext uri="{9D8B030D-6E8A-4147-A177-3AD203B41FA5}">
                      <a16:colId xmlns:a16="http://schemas.microsoft.com/office/drawing/2014/main" val="22660461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Rating branch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Recommended branch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Mean Spearman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9712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rounded RNN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hard-label BoW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/>
                        <a:t>0.6986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5196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continuous RNN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hard-label BoW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0.6984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0567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rounded RNN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probability BoW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dirty="0"/>
                        <a:t>0.6384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8833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406158-4D4D-59EE-CADA-EB9473E5E064}"/>
              </a:ext>
            </a:extLst>
          </p:cNvPr>
          <p:cNvSpPr txBox="1"/>
          <p:nvPr/>
        </p:nvSpPr>
        <p:spPr>
          <a:xfrm>
            <a:off x="3048000" y="15809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 Kaggle-valid local setup = </a:t>
            </a:r>
            <a:r>
              <a:rPr lang="en-US" b="1" dirty="0"/>
              <a:t>rounded RNN + hard-label </a:t>
            </a:r>
            <a:r>
              <a:rPr lang="en-US" b="1" dirty="0" err="1"/>
              <a:t>BoW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9606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504C6-0F07-0D32-04DA-155B912A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experiments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0AEDF-AF43-22BA-1179-03F853FFD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Threshold tuning for </a:t>
            </a:r>
            <a:r>
              <a:rPr lang="en-US" sz="1200" dirty="0"/>
              <a:t>Recommended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did not improve the score </a:t>
            </a:r>
          </a:p>
          <a:p>
            <a:r>
              <a:rPr lang="en-US" dirty="0"/>
              <a:t>TF-IDF instead of </a:t>
            </a:r>
            <a:r>
              <a:rPr lang="en-US" dirty="0" err="1"/>
              <a:t>CountVectorizer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slightly worse than </a:t>
            </a:r>
            <a:r>
              <a:rPr lang="en-US" dirty="0" err="1"/>
              <a:t>BoW</a:t>
            </a:r>
            <a:r>
              <a:rPr lang="en-US" dirty="0"/>
              <a:t> </a:t>
            </a:r>
          </a:p>
          <a:p>
            <a:r>
              <a:rPr lang="en-US" dirty="0"/>
              <a:t>Huber loss for RNN </a:t>
            </a:r>
            <a:r>
              <a:rPr lang="en-US" sz="1200" dirty="0"/>
              <a:t>Rating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improved local validation </a:t>
            </a:r>
          </a:p>
          <a:p>
            <a:pPr lvl="1"/>
            <a:r>
              <a:rPr lang="en-US" dirty="0"/>
              <a:t>did not improve public leaderboard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3293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6E9E-77B7-D5B2-50FF-528B6145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244CB-DD11-CB76-E9F5-77C1D721F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264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0005A-3E22-DBA9-0814-09DF319D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be improved further?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687CF-338D-FEFF-E0F9-087BBCECD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08263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606</TotalTime>
  <Words>1942</Words>
  <Application>Microsoft Macintosh PowerPoint</Application>
  <PresentationFormat>Widescreen</PresentationFormat>
  <Paragraphs>290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 Unicode MS</vt:lpstr>
      <vt:lpstr>Aptos</vt:lpstr>
      <vt:lpstr>Arial</vt:lpstr>
      <vt:lpstr>Consolas</vt:lpstr>
      <vt:lpstr>Neue Haas Grotesk Text Pro</vt:lpstr>
      <vt:lpstr>VanillaVTI</vt:lpstr>
      <vt:lpstr>Final Project: Fashion Review Prediction</vt:lpstr>
      <vt:lpstr>All instruments that were used</vt:lpstr>
      <vt:lpstr>Project workflow</vt:lpstr>
      <vt:lpstr>Problem and evaluation metric</vt:lpstr>
      <vt:lpstr>EDA: target distributions and data patterns</vt:lpstr>
      <vt:lpstr>PowerPoint Presentation</vt:lpstr>
      <vt:lpstr>PowerPoint Presentation</vt:lpstr>
      <vt:lpstr>PowerPoint Presentation</vt:lpstr>
      <vt:lpstr>EDA: missing values and text behavior</vt:lpstr>
      <vt:lpstr>Classical NLP preprocessing and Bag-of-Words baseline</vt:lpstr>
      <vt:lpstr>Bag-of-Words model: setup</vt:lpstr>
      <vt:lpstr>Bag-of-Words validation results</vt:lpstr>
      <vt:lpstr>Bag-of-Words interpretation What the Bag-of-Words model learned</vt:lpstr>
      <vt:lpstr>RNN model: setup</vt:lpstr>
      <vt:lpstr>Why a hybrid model?</vt:lpstr>
      <vt:lpstr>Hybrid validation results</vt:lpstr>
      <vt:lpstr>Extra experiments</vt:lpstr>
      <vt:lpstr>Final conclusion</vt:lpstr>
      <vt:lpstr>What could be improved further?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Daria Proniakova</dc:creator>
  <cp:lastModifiedBy>Daria Proniakova</cp:lastModifiedBy>
  <cp:revision>34</cp:revision>
  <dcterms:created xsi:type="dcterms:W3CDTF">2026-05-10T20:14:12Z</dcterms:created>
  <dcterms:modified xsi:type="dcterms:W3CDTF">2026-05-11T07:06:05Z</dcterms:modified>
</cp:coreProperties>
</file>