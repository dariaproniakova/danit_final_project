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36"/>
    <p:restoredTop sz="59242"/>
  </p:normalViewPr>
  <p:slideViewPr>
    <p:cSldViewPr snapToGrid="0">
      <p:cViewPr>
        <p:scale>
          <a:sx n="59" d="100"/>
          <a:sy n="59" d="100"/>
        </p:scale>
        <p:origin x="1032" y="304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334298-24E2-184A-BD19-4EB9995C8D12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9EE23-E0B4-844F-8556-21E3C5FE9B7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799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task is to predict two targets from fashion reviews and metadata The two targets are different in nature: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is ordinal from 1 to 5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is binary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399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Put:</a:t>
            </a:r>
          </a:p>
          <a:p>
            <a:r>
              <a:rPr lang="en-US" dirty="0"/>
              <a:t>short description of dataset </a:t>
            </a:r>
          </a:p>
          <a:p>
            <a:r>
              <a:rPr lang="en-US" dirty="0"/>
              <a:t>input features: </a:t>
            </a:r>
          </a:p>
          <a:p>
            <a:pPr lvl="1"/>
            <a:r>
              <a:rPr lang="en-US" dirty="0"/>
              <a:t>age </a:t>
            </a:r>
          </a:p>
          <a:p>
            <a:pPr lvl="1"/>
            <a:r>
              <a:rPr lang="en-US" dirty="0"/>
              <a:t>title </a:t>
            </a:r>
          </a:p>
          <a:p>
            <a:pPr lvl="1"/>
            <a:r>
              <a:rPr lang="en-US" dirty="0"/>
              <a:t>review text </a:t>
            </a:r>
          </a:p>
          <a:p>
            <a:pPr lvl="1"/>
            <a:r>
              <a:rPr lang="en-US" dirty="0"/>
              <a:t>feedback count </a:t>
            </a:r>
          </a:p>
          <a:p>
            <a:pPr lvl="1"/>
            <a:r>
              <a:rPr lang="en-US" dirty="0"/>
              <a:t>product categories </a:t>
            </a:r>
          </a:p>
          <a:p>
            <a:r>
              <a:rPr lang="en-US" dirty="0"/>
              <a:t>targets: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metric: </a:t>
            </a:r>
          </a:p>
          <a:p>
            <a:pPr lvl="1"/>
            <a:r>
              <a:rPr lang="en-US" dirty="0"/>
              <a:t>mean of Spearman correlations for the two targets </a:t>
            </a:r>
          </a:p>
          <a:p>
            <a:r>
              <a:rPr lang="en-US" dirty="0"/>
              <a:t>What to say:</a:t>
            </a:r>
          </a:p>
          <a:p>
            <a:r>
              <a:rPr lang="en-US" dirty="0"/>
              <a:t>Because the competition uses Spearman, preserving ranking is very important </a:t>
            </a:r>
          </a:p>
          <a:p>
            <a:r>
              <a:rPr lang="en-US" dirty="0"/>
              <a:t>This influenced model choices, especially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6796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EDA → Classical NLP / </a:t>
            </a:r>
            <a:r>
              <a:rPr lang="en-US" b="1" dirty="0" err="1"/>
              <a:t>BoW</a:t>
            </a:r>
            <a:r>
              <a:rPr lang="en-US" b="1" dirty="0"/>
              <a:t> baseline → RNN model → Hybrid model → Final submission</a:t>
            </a:r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603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</a:t>
            </a:r>
          </a:p>
          <a:p>
            <a:r>
              <a:rPr lang="en-US" dirty="0"/>
              <a:t>distribution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r>
              <a:rPr lang="en-US" dirty="0"/>
              <a:t>distribution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maybe correlation / crosstab between them </a:t>
            </a:r>
          </a:p>
          <a:p>
            <a:endParaRPr lang="en-US" dirty="0"/>
          </a:p>
          <a:p>
            <a:r>
              <a:rPr lang="en-US" dirty="0"/>
              <a:t>Main message:</a:t>
            </a:r>
          </a:p>
          <a:p>
            <a:r>
              <a:rPr lang="en-US" dirty="0"/>
              <a:t>Both targets are positively skewed </a:t>
            </a:r>
          </a:p>
          <a:p>
            <a:r>
              <a:rPr lang="en-US" dirty="0"/>
              <a:t>Most reviews are positive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are strongly related </a:t>
            </a:r>
          </a:p>
          <a:p>
            <a:endParaRPr lang="en-US" dirty="0"/>
          </a:p>
          <a:p>
            <a:r>
              <a:rPr lang="en-US" dirty="0"/>
              <a:t>What to say:</a:t>
            </a:r>
          </a:p>
          <a:p>
            <a:r>
              <a:rPr lang="en-US" dirty="0"/>
              <a:t>The dataset is imbalanced toward positive opinions </a:t>
            </a:r>
          </a:p>
          <a:p>
            <a:r>
              <a:rPr lang="en-US" dirty="0"/>
              <a:t>This is important because it affects classification behavior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69638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</a:t>
            </a:r>
          </a:p>
          <a:p>
            <a:r>
              <a:rPr lang="en-US" dirty="0"/>
              <a:t>missing values bar plot </a:t>
            </a:r>
          </a:p>
          <a:p>
            <a:r>
              <a:rPr lang="en-US" dirty="0"/>
              <a:t>maybe one table showing: </a:t>
            </a:r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title_missing</a:t>
            </a:r>
            <a:r>
              <a:rPr lang="en-US" dirty="0"/>
              <a:t> </a:t>
            </a:r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review_missing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average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average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Main message:</a:t>
            </a:r>
          </a:p>
          <a:p>
            <a:r>
              <a:rPr lang="en-US" dirty="0"/>
              <a:t>Missing text is not random </a:t>
            </a:r>
          </a:p>
          <a:p>
            <a:r>
              <a:rPr lang="en-US" dirty="0"/>
              <a:t>Missing title/review can carry signal </a:t>
            </a:r>
          </a:p>
          <a:p>
            <a:r>
              <a:rPr lang="en-US" dirty="0"/>
              <a:t>Review length is informative </a:t>
            </a:r>
          </a:p>
          <a:p>
            <a:endParaRPr lang="en-US" dirty="0"/>
          </a:p>
          <a:p>
            <a:r>
              <a:rPr lang="en-US" dirty="0"/>
              <a:t>What to say:</a:t>
            </a:r>
          </a:p>
          <a:p>
            <a:r>
              <a:rPr lang="en-US" dirty="0"/>
              <a:t>Reviews with missing text had different average targets </a:t>
            </a:r>
          </a:p>
          <a:p>
            <a:r>
              <a:rPr lang="en-US" dirty="0"/>
              <a:t>So I kept missingness indicators instead of simply dropping them </a:t>
            </a:r>
          </a:p>
          <a:p>
            <a:endParaRPr lang="en-US" dirty="0"/>
          </a:p>
          <a:p>
            <a:r>
              <a:rPr lang="en-US" dirty="0"/>
              <a:t>To mention:</a:t>
            </a:r>
          </a:p>
          <a:p>
            <a:r>
              <a:rPr lang="en-US" dirty="0"/>
              <a:t>title length </a:t>
            </a:r>
          </a:p>
          <a:p>
            <a:r>
              <a:rPr lang="en-US" dirty="0"/>
              <a:t>review length </a:t>
            </a:r>
          </a:p>
          <a:p>
            <a:r>
              <a:rPr lang="en-US" dirty="0"/>
              <a:t>text preprocessing decisions came from EDA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7574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Put:</a:t>
            </a:r>
          </a:p>
          <a:p>
            <a:r>
              <a:rPr lang="en-US" dirty="0"/>
              <a:t>lowercasing / light cleaning </a:t>
            </a:r>
          </a:p>
          <a:p>
            <a:r>
              <a:rPr lang="en-US" dirty="0"/>
              <a:t>missing text filled with empty strings </a:t>
            </a:r>
          </a:p>
          <a:p>
            <a:r>
              <a:rPr lang="en-US" dirty="0"/>
              <a:t>missingness indicators kept </a:t>
            </a:r>
          </a:p>
          <a:p>
            <a:r>
              <a:rPr lang="en-US" dirty="0"/>
              <a:t>title and review combined </a:t>
            </a:r>
          </a:p>
          <a:p>
            <a:r>
              <a:rPr lang="en-US" dirty="0"/>
              <a:t>n-grams used </a:t>
            </a:r>
          </a:p>
          <a:p>
            <a:r>
              <a:rPr lang="en-US" dirty="0" err="1"/>
              <a:t>BoW</a:t>
            </a:r>
            <a:r>
              <a:rPr lang="en-US" dirty="0"/>
              <a:t>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CountVectorizer</a:t>
            </a:r>
            <a:r>
              <a:rPr lang="en-US" dirty="0"/>
              <a:t>) with metadata </a:t>
            </a:r>
          </a:p>
          <a:p>
            <a:r>
              <a:rPr lang="en-US" dirty="0"/>
              <a:t>separate models: </a:t>
            </a:r>
          </a:p>
          <a:p>
            <a:pPr lvl="1"/>
            <a:r>
              <a:rPr lang="en-US" dirty="0"/>
              <a:t>Ridge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Logistic Regression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What to say:</a:t>
            </a:r>
          </a:p>
          <a:p>
            <a:r>
              <a:rPr lang="en-US" dirty="0"/>
              <a:t>Classical NLP here means preprocessing and sparse text representation </a:t>
            </a:r>
          </a:p>
          <a:p>
            <a:r>
              <a:rPr lang="en-US" dirty="0"/>
              <a:t>I used unigrams and bigrams because short phrases like “too small” or “not flattering” were important </a:t>
            </a:r>
          </a:p>
          <a:p>
            <a:r>
              <a:rPr lang="en-US" dirty="0"/>
              <a:t>Separate models were used because the targets are different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8322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Content:</a:t>
            </a:r>
            <a:endParaRPr lang="en-US" dirty="0"/>
          </a:p>
          <a:p>
            <a:r>
              <a:rPr lang="en-US" dirty="0"/>
              <a:t>Classical NLP preprocessing: </a:t>
            </a:r>
          </a:p>
          <a:p>
            <a:pPr lvl="1"/>
            <a:r>
              <a:rPr lang="en-US" dirty="0"/>
              <a:t>lowercasing </a:t>
            </a:r>
          </a:p>
          <a:p>
            <a:pPr lvl="1"/>
            <a:r>
              <a:rPr lang="en-US" dirty="0"/>
              <a:t>light text cleaning </a:t>
            </a:r>
          </a:p>
          <a:p>
            <a:pPr lvl="1"/>
            <a:r>
              <a:rPr lang="en-US" dirty="0"/>
              <a:t>missing text handling </a:t>
            </a:r>
          </a:p>
          <a:p>
            <a:pPr lvl="1"/>
            <a:r>
              <a:rPr lang="en-US" dirty="0"/>
              <a:t>missingness indicators </a:t>
            </a:r>
          </a:p>
          <a:p>
            <a:pPr lvl="1"/>
            <a:r>
              <a:rPr lang="en-US" dirty="0"/>
              <a:t>text length features </a:t>
            </a:r>
          </a:p>
          <a:p>
            <a:r>
              <a:rPr lang="en-US" dirty="0"/>
              <a:t>Text representation: </a:t>
            </a:r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CountVectorizer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unigrams + bigrams </a:t>
            </a:r>
          </a:p>
          <a:p>
            <a:r>
              <a:rPr lang="en-US" dirty="0"/>
              <a:t>Separate models: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→ Ridge regression 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→ Logistic Regression </a:t>
            </a:r>
          </a:p>
          <a:p>
            <a:r>
              <a:rPr lang="en-US" dirty="0"/>
              <a:t>Additional metadata: </a:t>
            </a:r>
          </a:p>
          <a:p>
            <a:pPr lvl="1"/>
            <a:r>
              <a:rPr lang="en-US" dirty="0"/>
              <a:t>Age </a:t>
            </a:r>
          </a:p>
          <a:p>
            <a:pPr lvl="1"/>
            <a:r>
              <a:rPr lang="en-US" dirty="0" err="1"/>
              <a:t>Pos_Feedback_Cnt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Division / Department / </a:t>
            </a:r>
            <a:r>
              <a:rPr lang="en-US" dirty="0" err="1"/>
              <a:t>Product_Category</a:t>
            </a:r>
            <a:endParaRPr lang="en-US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US" dirty="0"/>
              <a:t>After EDA, I built the first predictive baseline using classical NLP and Bag-of-Words.</a:t>
            </a:r>
            <a:br>
              <a:rPr lang="en-US" dirty="0"/>
            </a:br>
            <a:r>
              <a:rPr lang="en-US" dirty="0"/>
              <a:t>I used light preprocessing, handled missing text explicitly, and represented the reviews with word and phrase counts using </a:t>
            </a:r>
            <a:r>
              <a:rPr lang="en-US" dirty="0" err="1"/>
              <a:t>CountVectorizer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 also added metadata and trained separate models for the two targets: Ridge regression for Rating and Logistic Regression for Recommended.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61210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compared several output formats because the competition uses mean </a:t>
            </a:r>
            <a:r>
              <a:rPr lang="en-US" dirty="0" err="1"/>
              <a:t>columnwise</a:t>
            </a:r>
            <a:r>
              <a:rPr lang="en-US" dirty="0"/>
              <a:t> Spearman correlation.</a:t>
            </a:r>
            <a:br>
              <a:rPr lang="en-US" dirty="0"/>
            </a:br>
            <a:r>
              <a:rPr lang="en-US" dirty="0"/>
              <a:t>For Rating, continuous predictions worked better locally than rounded ones, because they preserve ranking information.</a:t>
            </a:r>
            <a:br>
              <a:rPr lang="en-US" dirty="0"/>
            </a:br>
            <a:r>
              <a:rPr lang="en-US" dirty="0"/>
              <a:t>For Recommended, hard class labels performed better than probabilities in this baseline.</a:t>
            </a:r>
            <a:br>
              <a:rPr lang="en-US" dirty="0"/>
            </a:br>
            <a:r>
              <a:rPr lang="en-US" dirty="0"/>
              <a:t>Since Kaggle requires integer ratings, the final Bag-of-Words submission used rounded Rating and hard-label Recommended.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001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public leaderboard score for the Bag-of-Words baseline was 0.64544.</a:t>
            </a:r>
            <a:br>
              <a:rPr lang="en-US" dirty="0"/>
            </a:br>
            <a:r>
              <a:rPr lang="en-US" dirty="0"/>
              <a:t>This was already a strong and stable result, especially for the binary Recommended target.</a:t>
            </a:r>
            <a:br>
              <a:rPr lang="en-US" dirty="0"/>
            </a:br>
            <a:r>
              <a:rPr lang="en-US" dirty="0"/>
              <a:t>But because Bag-of-Words ignores word order beyond local n-grams, I next tested a sequential neural network.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324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Architecture: Embedding </a:t>
            </a:r>
          </a:p>
          <a:p>
            <a:r>
              <a:rPr lang="en-US" dirty="0"/>
              <a:t>GRU </a:t>
            </a:r>
          </a:p>
          <a:p>
            <a:r>
              <a:rPr lang="en-US" dirty="0"/>
              <a:t>Dense layer </a:t>
            </a:r>
          </a:p>
          <a:p>
            <a:r>
              <a:rPr lang="en-US" dirty="0"/>
              <a:t>Separate models: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→ regression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→ classification</a:t>
            </a:r>
          </a:p>
          <a:p>
            <a:endParaRPr lang="en-GB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performed well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initially failed </a:t>
            </a:r>
          </a:p>
          <a:p>
            <a:r>
              <a:rPr lang="en-US" dirty="0"/>
              <a:t>Validation probabilities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collapsed near 0.5 </a:t>
            </a:r>
          </a:p>
          <a:p>
            <a:r>
              <a:rPr lang="en-US" dirty="0"/>
              <a:t>Model predicted almost all reviews as recommended </a:t>
            </a:r>
          </a:p>
          <a:p>
            <a:r>
              <a:rPr lang="en-US" dirty="0"/>
              <a:t>You can add a small diagnostic note:</a:t>
            </a:r>
          </a:p>
          <a:p>
            <a:r>
              <a:rPr lang="en-US" dirty="0"/>
              <a:t>Prediction collapse due to unstable training / imbalance handling</a:t>
            </a:r>
          </a:p>
          <a:p>
            <a:endParaRPr lang="en-GB" dirty="0"/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first RNN attempt was not immediately successful.</a:t>
            </a:r>
            <a:br>
              <a:rPr lang="en-US" dirty="0"/>
            </a:br>
            <a:r>
              <a:rPr lang="en-US" dirty="0"/>
              <a:t>The Rating model worked well, but the Recommended model collapsed: predicted probabilities were concentrated near 0.5 and most examples were classified as recommended.</a:t>
            </a:r>
            <a:br>
              <a:rPr lang="en-US" dirty="0"/>
            </a:br>
            <a:r>
              <a:rPr lang="en-US" dirty="0"/>
              <a:t>This led to a very poor Recommended Spearman score, so I diagnosed and fixed the training setup rather than keeping the initial result.</a:t>
            </a:r>
          </a:p>
          <a:p>
            <a:endParaRPr lang="en-GB" dirty="0"/>
          </a:p>
          <a:p>
            <a:endParaRPr lang="en-GB" dirty="0"/>
          </a:p>
          <a:p>
            <a:r>
              <a:rPr lang="en-US" dirty="0"/>
              <a:t>Fixing the RNN</a:t>
            </a:r>
          </a:p>
          <a:p>
            <a:r>
              <a:rPr lang="en-US" b="1" dirty="0"/>
              <a:t>Content:</a:t>
            </a:r>
            <a:endParaRPr lang="en-US" dirty="0"/>
          </a:p>
          <a:p>
            <a:r>
              <a:rPr lang="en-US" dirty="0"/>
              <a:t>Removed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class_weight</a:t>
            </a:r>
            <a:r>
              <a:rPr lang="en-US" dirty="0"/>
              <a:t> </a:t>
            </a:r>
          </a:p>
          <a:p>
            <a:r>
              <a:rPr lang="en-US" dirty="0"/>
              <a:t>Reduced dropout from 0.3 to 0.2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Lowered learning rate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5e-4</a:t>
            </a:r>
            <a:r>
              <a:rPr lang="en-US" dirty="0"/>
              <a:t> </a:t>
            </a:r>
          </a:p>
          <a:p>
            <a:r>
              <a:rPr lang="en-US" dirty="0"/>
              <a:t>Rechecked: </a:t>
            </a:r>
          </a:p>
          <a:p>
            <a:pPr lvl="1"/>
            <a:r>
              <a:rPr lang="en-US" dirty="0"/>
              <a:t>probability distribution </a:t>
            </a:r>
          </a:p>
          <a:p>
            <a:pPr lvl="1"/>
            <a:r>
              <a:rPr lang="en-US" dirty="0"/>
              <a:t>label counts </a:t>
            </a:r>
          </a:p>
          <a:p>
            <a:pPr lvl="1"/>
            <a:r>
              <a:rPr lang="en-US" dirty="0"/>
              <a:t>confusion matrix </a:t>
            </a:r>
          </a:p>
          <a:p>
            <a:pPr lvl="1"/>
            <a:r>
              <a:rPr lang="en-US" dirty="0"/>
              <a:t>validation Spearman</a:t>
            </a:r>
          </a:p>
          <a:p>
            <a:endParaRPr lang="en-GB" dirty="0"/>
          </a:p>
          <a:p>
            <a:endParaRPr lang="en-GB" dirty="0"/>
          </a:p>
          <a:p>
            <a:r>
              <a:rPr lang="en-US" dirty="0"/>
              <a:t>I improved the RNN by making the recommendation branch more stable.</a:t>
            </a:r>
            <a:br>
              <a:rPr lang="en-US" dirty="0"/>
            </a:br>
            <a:r>
              <a:rPr lang="en-US" dirty="0"/>
              <a:t>The main changes were removing class weights, lowering dropout, and reducing the learning rate.</a:t>
            </a:r>
            <a:br>
              <a:rPr lang="en-US" dirty="0"/>
            </a:br>
            <a:r>
              <a:rPr lang="en-US" dirty="0"/>
              <a:t>After that, the recommendation probabilities became much more meaningful and the model stopped collapsing to trivial predictions.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Best local RNN setup: rounded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r>
              <a:rPr lang="en-US" dirty="0"/>
              <a:t>hard-label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Final Kaggle score: </a:t>
            </a:r>
            <a:r>
              <a:rPr lang="en-US" b="1" dirty="0"/>
              <a:t>0.67891</a:t>
            </a:r>
            <a:r>
              <a:rPr lang="en-US" dirty="0"/>
              <a:t> Better than Bag-of-Words baseline</a:t>
            </a:r>
          </a:p>
          <a:p>
            <a:r>
              <a:rPr lang="en-US" dirty="0"/>
              <a:t>After tuning, the RNN became clearly stronger than the Bag-of-Words baseline.</a:t>
            </a:r>
            <a:br>
              <a:rPr lang="en-US" dirty="0"/>
            </a:br>
            <a:r>
              <a:rPr lang="en-US" dirty="0"/>
              <a:t>Its public leaderboard score was 0.67891, compared with 0.64544 for the classical baseline.</a:t>
            </a:r>
            <a:br>
              <a:rPr lang="en-US" dirty="0"/>
            </a:br>
            <a:r>
              <a:rPr lang="en-US" dirty="0"/>
              <a:t>This showed that sequential modeling helped, especially for Rating.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3836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Bag-of-Words was strongest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r>
              <a:rPr lang="en-US" dirty="0"/>
              <a:t>RNN was strongest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r>
              <a:rPr lang="en-US" dirty="0"/>
              <a:t>Idea: combine the best model family for each target </a:t>
            </a:r>
          </a:p>
          <a:p>
            <a:r>
              <a:rPr lang="en-US" b="1" dirty="0"/>
              <a:t>Hybrid setup</a:t>
            </a:r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→ RNN 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→ Bag-of-Words </a:t>
            </a:r>
          </a:p>
          <a:p>
            <a:r>
              <a:rPr lang="en-US" b="1" dirty="0"/>
              <a:t>What to say</a:t>
            </a:r>
          </a:p>
          <a:p>
            <a:r>
              <a:rPr lang="en-US" dirty="0"/>
              <a:t>The experiments suggested that different targets benefit from different model families.</a:t>
            </a:r>
            <a:br>
              <a:rPr lang="en-US" dirty="0"/>
            </a:br>
            <a:r>
              <a:rPr lang="en-US" dirty="0"/>
              <a:t>The RNN captured the ordinal Rating signal very well, while the sparse Bag-of-Words model remained extremely strong for Recommended.</a:t>
            </a:r>
            <a:br>
              <a:rPr lang="en-US" dirty="0"/>
            </a:br>
            <a:r>
              <a:rPr lang="en-US" dirty="0"/>
              <a:t>So I built a hybrid model that uses the best branch for each target.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8323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hybrid was the best local configuration.</a:t>
            </a:r>
            <a:br>
              <a:rPr lang="en-US" dirty="0"/>
            </a:br>
            <a:r>
              <a:rPr lang="en-US" dirty="0"/>
              <a:t>The strongest setup used rounded RNN predictions for Rating and hard-label Bag-of-Words predictions for Recommended.</a:t>
            </a:r>
            <a:br>
              <a:rPr lang="en-US" dirty="0"/>
            </a:br>
            <a:r>
              <a:rPr lang="en-US" dirty="0"/>
              <a:t>This confirmed the idea that the two targets should not necessarily be modeled with the same approach.</a:t>
            </a:r>
          </a:p>
          <a:p>
            <a:endParaRPr lang="en-US" dirty="0"/>
          </a:p>
          <a:p>
            <a:r>
              <a:rPr lang="en-US" dirty="0"/>
              <a:t>The hybrid submission achieved the best public leaderboard score: 0.69699.</a:t>
            </a:r>
            <a:br>
              <a:rPr lang="en-US" dirty="0"/>
            </a:br>
            <a:r>
              <a:rPr lang="en-US" dirty="0"/>
              <a:t>It outperformed both standalone model families, which supports the final modeling choice.</a:t>
            </a:r>
            <a:br>
              <a:rPr lang="en-US" dirty="0"/>
            </a:br>
            <a:r>
              <a:rPr lang="en-US" dirty="0"/>
              <a:t>So the best final system was not the most complex single model, but the best combination of two complementary approaches.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4324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Content:</a:t>
            </a:r>
            <a:endParaRPr lang="en-US" dirty="0"/>
          </a:p>
          <a:p>
            <a:r>
              <a:rPr lang="en-US" dirty="0"/>
              <a:t>Threshold tuning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Recommended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did not improve the score </a:t>
            </a:r>
          </a:p>
          <a:p>
            <a:r>
              <a:rPr lang="en-US" dirty="0"/>
              <a:t>TF-IDF instead of </a:t>
            </a:r>
            <a:r>
              <a:rPr lang="en-US" dirty="0" err="1"/>
              <a:t>CountVectorizer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slightly worse than </a:t>
            </a:r>
            <a:r>
              <a:rPr lang="en-US" dirty="0" err="1"/>
              <a:t>BoW</a:t>
            </a:r>
            <a:r>
              <a:rPr lang="en-US" dirty="0"/>
              <a:t> </a:t>
            </a:r>
          </a:p>
          <a:p>
            <a:r>
              <a:rPr lang="en-US" dirty="0"/>
              <a:t>Huber loss for RNN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improved local validation </a:t>
            </a:r>
          </a:p>
          <a:p>
            <a:pPr lvl="1"/>
            <a:r>
              <a:rPr lang="en-US" dirty="0"/>
              <a:t>did not improve public leaderboard </a:t>
            </a:r>
          </a:p>
          <a:p>
            <a:endParaRPr lang="en-GB" dirty="0"/>
          </a:p>
          <a:p>
            <a:endParaRPr lang="en-GB" dirty="0"/>
          </a:p>
          <a:p>
            <a:r>
              <a:rPr lang="en-US" dirty="0"/>
              <a:t>I also tested several improvements.</a:t>
            </a:r>
            <a:br>
              <a:rPr lang="en-US" dirty="0"/>
            </a:br>
            <a:r>
              <a:rPr lang="en-US" dirty="0"/>
              <a:t>Threshold tuning for Recommended did not help.</a:t>
            </a:r>
            <a:br>
              <a:rPr lang="en-US" dirty="0"/>
            </a:br>
            <a:r>
              <a:rPr lang="en-US" dirty="0"/>
              <a:t>Replacing Bag-of-Words with TF-IDF was slightly worse in this dataset.</a:t>
            </a:r>
            <a:br>
              <a:rPr lang="en-US" dirty="0"/>
            </a:br>
            <a:r>
              <a:rPr lang="en-US" dirty="0"/>
              <a:t>Huber loss improved local validation for Rating, but did not translate into a better public leaderboard score than the main hybrid submission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9EE23-E0B4-844F-8556-21E3C5FE9B7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92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286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38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761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00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07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29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348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43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13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673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17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21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79" r:id="rId2"/>
    <p:sldLayoutId id="2147483678" r:id="rId3"/>
    <p:sldLayoutId id="2147483677" r:id="rId4"/>
    <p:sldLayoutId id="2147483676" r:id="rId5"/>
    <p:sldLayoutId id="2147483675" r:id="rId6"/>
    <p:sldLayoutId id="2147483674" r:id="rId7"/>
    <p:sldLayoutId id="2147483673" r:id="rId8"/>
    <p:sldLayoutId id="2147483672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0A525A-7DAE-ECC2-40D4-6934073077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68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0AC3EE-A276-4DAA-FD66-B7CE57F74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806" y="1614699"/>
            <a:ext cx="4470544" cy="3474720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60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Final Project: Fashion Review Prediction</a:t>
            </a:r>
            <a:endParaRPr lang="en-GB" sz="5800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052EE6-40AB-793A-F9FD-42FA9C040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472" y="609608"/>
            <a:ext cx="2006600" cy="647700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77FB6B2D-5BD1-347A-EA84-8D56829E7A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0754" y="5089419"/>
            <a:ext cx="3398853" cy="1414091"/>
          </a:xfrm>
        </p:spPr>
        <p:txBody>
          <a:bodyPr>
            <a:normAutofit/>
          </a:bodyPr>
          <a:lstStyle/>
          <a:p>
            <a:r>
              <a:rPr lang="en-GB" sz="2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Daria Proniakova</a:t>
            </a:r>
          </a:p>
        </p:txBody>
      </p:sp>
    </p:spTree>
    <p:extLst>
      <p:ext uri="{BB962C8B-B14F-4D97-AF65-F5344CB8AC3E}">
        <p14:creationId xmlns:p14="http://schemas.microsoft.com/office/powerpoint/2010/main" val="55412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6D34-69E6-59A8-BD5F-46CCF18FD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and evaluation metric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92AE3-6DDF-DE99-9D20-CCFA287EAC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1301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C311-D769-6825-2C0C-DD2FDB114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workflow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001BB-EFF0-BDF3-AA3B-3187D4593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634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C1AFD-38C2-FECC-13A2-6BB7FF7E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EDA: target distributions and data patterns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3CE14-49C7-36C2-273B-27408C296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049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11046-3E9E-6865-F748-A8C73A9EF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EDA: missing values and text behavior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9BD00-6260-5610-80D1-D0DC6F444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563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2B7E-BBC2-5875-5EA5-0BF2CF639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Classical NLP preprocessing and Bag-of-Words baseline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D81DA-B2E6-4423-4299-3D3B83DF0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1462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B5F8-2515-3E9D-C526-582E0E49E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Bag-of-Words model: setup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55292-3631-1D8D-D764-F6A0AC20C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345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27498-2256-293C-558F-6C142F0CB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Bag-of-Words validation results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1DAB98-F997-E9BB-47B6-4847DBAE5B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27881" y="3186906"/>
            <a:ext cx="10223500" cy="16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997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9D11C-6ACF-CBC3-0417-F705C8F5C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Bag-of-Words interpretation</a:t>
            </a:r>
            <a:br>
              <a:rPr lang="en-US" dirty="0"/>
            </a:br>
            <a:r>
              <a:rPr lang="en-US" sz="2800" b="0" dirty="0"/>
              <a:t>What the Bag-of-Words model learned</a:t>
            </a:r>
            <a:endParaRPr lang="en-GB" b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CE05DB-2D98-4F6F-27E9-10669BE81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2535" y="548640"/>
            <a:ext cx="4699141" cy="277309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4994208-7F69-547F-704D-3CAB6FA5A9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684625" y="6049995"/>
            <a:ext cx="5327051" cy="4634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5E117-6774-5F2B-58C2-23CA83186E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9896" y="2029779"/>
            <a:ext cx="4894729" cy="279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153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DC7BB-B241-2AED-5DCC-33B7F56CE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 model: setup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470FB-5058-7207-4D46-9C7BF26E8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attempt -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C8A210-2F9E-CD7C-A3DB-EDC616283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830" y="1715532"/>
            <a:ext cx="5791200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Rating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performed well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Recommended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initially failed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Validation probabilities for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Recommended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collapsed near 0.5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 predicted almost all reviews as recommended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FC899-88D1-C982-9A16-5625BB39F838}"/>
              </a:ext>
            </a:extLst>
          </p:cNvPr>
          <p:cNvSpPr txBox="1"/>
          <p:nvPr/>
        </p:nvSpPr>
        <p:spPr>
          <a:xfrm>
            <a:off x="612647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Fixing the RNN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D07F21-8ABF-FB8E-37F4-92AC273EA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4243" y="4797120"/>
            <a:ext cx="7772400" cy="6906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932C5A-A303-31A8-BD63-E2A5DE1A2C5F}"/>
              </a:ext>
            </a:extLst>
          </p:cNvPr>
          <p:cNvSpPr txBox="1"/>
          <p:nvPr/>
        </p:nvSpPr>
        <p:spPr>
          <a:xfrm>
            <a:off x="612647" y="46713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Fixing the RNN</a:t>
            </a:r>
          </a:p>
        </p:txBody>
      </p:sp>
    </p:spTree>
    <p:extLst>
      <p:ext uri="{BB962C8B-B14F-4D97-AF65-F5344CB8AC3E}">
        <p14:creationId xmlns:p14="http://schemas.microsoft.com/office/powerpoint/2010/main" val="2057712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D2344-2617-D2C5-A56C-F462BFB0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hybrid model?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8E748-A969-E17B-0AB6-9F177BDBE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Bag-of-Words was strongest for Recommended </a:t>
            </a:r>
          </a:p>
          <a:p>
            <a:r>
              <a:rPr lang="en-US" dirty="0"/>
              <a:t>RNN was strongest for Rating </a:t>
            </a:r>
          </a:p>
          <a:p>
            <a:r>
              <a:rPr lang="en-US" dirty="0"/>
              <a:t>Idea: combine the best model family for each target 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7746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0D754-F591-28DA-6FC5-17AC13E18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validation results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4D4BAAE-966C-A084-18CD-6BF53CAD49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5923295"/>
              </p:ext>
            </p:extLst>
          </p:nvPr>
        </p:nvGraphicFramePr>
        <p:xfrm>
          <a:off x="612512" y="4630715"/>
          <a:ext cx="10653714" cy="1463040"/>
        </p:xfrm>
        <a:graphic>
          <a:graphicData uri="http://schemas.openxmlformats.org/drawingml/2006/table">
            <a:tbl>
              <a:tblPr/>
              <a:tblGrid>
                <a:gridCol w="3551238">
                  <a:extLst>
                    <a:ext uri="{9D8B030D-6E8A-4147-A177-3AD203B41FA5}">
                      <a16:colId xmlns:a16="http://schemas.microsoft.com/office/drawing/2014/main" val="1122791115"/>
                    </a:ext>
                  </a:extLst>
                </a:gridCol>
                <a:gridCol w="3551238">
                  <a:extLst>
                    <a:ext uri="{9D8B030D-6E8A-4147-A177-3AD203B41FA5}">
                      <a16:colId xmlns:a16="http://schemas.microsoft.com/office/drawing/2014/main" val="595070134"/>
                    </a:ext>
                  </a:extLst>
                </a:gridCol>
                <a:gridCol w="3551238">
                  <a:extLst>
                    <a:ext uri="{9D8B030D-6E8A-4147-A177-3AD203B41FA5}">
                      <a16:colId xmlns:a16="http://schemas.microsoft.com/office/drawing/2014/main" val="226604619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Rating branch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Recommended branch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/>
                        <a:t>Mean Spearman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39712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rounded RNN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hard-label BoW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1"/>
                        <a:t>0.6986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25196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continuous RNN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hard-label BoW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/>
                        <a:t>0.6984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30567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rounded RNN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probability BoW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dirty="0"/>
                        <a:t>0.6384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38833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F406158-4D4D-59EE-CADA-EB9473E5E064}"/>
              </a:ext>
            </a:extLst>
          </p:cNvPr>
          <p:cNvSpPr txBox="1"/>
          <p:nvPr/>
        </p:nvSpPr>
        <p:spPr>
          <a:xfrm>
            <a:off x="3048000" y="158095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Best Kaggle-valid local setup = </a:t>
            </a:r>
            <a:r>
              <a:rPr lang="en-US" b="1" dirty="0"/>
              <a:t>rounded RNN + hard-label </a:t>
            </a:r>
            <a:r>
              <a:rPr lang="en-US" b="1" dirty="0" err="1"/>
              <a:t>BoW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09606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504C6-0F07-0D32-04DA-155B912AF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 experiments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0AEDF-AF43-22BA-1179-03F853FFD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Threshold tuning for </a:t>
            </a:r>
            <a:r>
              <a:rPr lang="en-US" sz="1200" dirty="0"/>
              <a:t>Recommended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did not improve the score </a:t>
            </a:r>
          </a:p>
          <a:p>
            <a:r>
              <a:rPr lang="en-US" dirty="0"/>
              <a:t>TF-IDF instead of </a:t>
            </a:r>
            <a:r>
              <a:rPr lang="en-US" dirty="0" err="1"/>
              <a:t>CountVectorizer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slightly worse than </a:t>
            </a:r>
            <a:r>
              <a:rPr lang="en-US" dirty="0" err="1"/>
              <a:t>BoW</a:t>
            </a:r>
            <a:r>
              <a:rPr lang="en-US" dirty="0"/>
              <a:t> </a:t>
            </a:r>
          </a:p>
          <a:p>
            <a:r>
              <a:rPr lang="en-US" dirty="0"/>
              <a:t>Huber loss for RNN </a:t>
            </a:r>
            <a:r>
              <a:rPr lang="en-US" sz="1200" dirty="0"/>
              <a:t>Rating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improved local validation </a:t>
            </a:r>
          </a:p>
          <a:p>
            <a:pPr lvl="1"/>
            <a:r>
              <a:rPr lang="en-US" dirty="0"/>
              <a:t>did not improve public leaderboard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23293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6E9E-77B7-D5B2-50FF-528B6145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Final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244CB-DD11-CB76-E9F5-77C1D721F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526475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31</TotalTime>
  <Words>1234</Words>
  <Application>Microsoft Macintosh PowerPoint</Application>
  <PresentationFormat>Widescreen</PresentationFormat>
  <Paragraphs>205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 Unicode MS</vt:lpstr>
      <vt:lpstr>Aptos</vt:lpstr>
      <vt:lpstr>Arial</vt:lpstr>
      <vt:lpstr>Neue Haas Grotesk Text Pro</vt:lpstr>
      <vt:lpstr>VanillaVTI</vt:lpstr>
      <vt:lpstr>Final Project: Fashion Review Prediction</vt:lpstr>
      <vt:lpstr>Problem and evaluation metric</vt:lpstr>
      <vt:lpstr>Project workflow</vt:lpstr>
      <vt:lpstr>EDA: target distributions and data patterns</vt:lpstr>
      <vt:lpstr>EDA: missing values and text behavior</vt:lpstr>
      <vt:lpstr>Classical NLP preprocessing and Bag-of-Words baseline</vt:lpstr>
      <vt:lpstr>Bag-of-Words model: setup</vt:lpstr>
      <vt:lpstr>Bag-of-Words validation results</vt:lpstr>
      <vt:lpstr>Bag-of-Words interpretation What the Bag-of-Words model learned</vt:lpstr>
      <vt:lpstr>RNN model: setup</vt:lpstr>
      <vt:lpstr>Why a hybrid model?</vt:lpstr>
      <vt:lpstr>Hybrid validation results</vt:lpstr>
      <vt:lpstr>Extra experiments</vt:lpstr>
      <vt:lpstr>Final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Daria Proniakova</dc:creator>
  <cp:lastModifiedBy>Daria Proniakova</cp:lastModifiedBy>
  <cp:revision>7</cp:revision>
  <dcterms:created xsi:type="dcterms:W3CDTF">2026-05-10T20:14:12Z</dcterms:created>
  <dcterms:modified xsi:type="dcterms:W3CDTF">2026-05-10T20:45:41Z</dcterms:modified>
</cp:coreProperties>
</file>